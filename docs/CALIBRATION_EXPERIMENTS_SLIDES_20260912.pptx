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校正実験3プロトコル + 根拠データ</a:t>
            </a:r>
          </a:p>
          <a:p>
            <a:r>
              <a:rPr sz="1800">
                <a:solidFill>
                  <a:srgbClr val="B9C8DA"/>
                </a:solidFill>
              </a:rPr>
              <a:t>ゴム分解速度定数 / 維持ATP要求量 / 酸素分配 — dFBAコンソーシアムモデル校正シリーズ</a:t>
            </a:r>
          </a:p>
          <a:p>
            <a:pPr>
              <a:spcBef>
                <a:spcPts val="2000"/>
              </a:spcBef>
            </a:pPr>
            <a:r>
              <a:rPr sz="1300">
                <a:solidFill>
                  <a:srgbClr val="8A9BB0"/>
                </a:solidFill>
              </a:rPr>
              <a:t>2026年9月12日　天然ゴム分解・PHA変換コンソーシアム (OR16 / NS21 / P. freudenreichii)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573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601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6E4F"/>
                </a:solidFill>
              </a:rPr>
              <a:t>1. OVERVIEW</a:t>
            </a:r>
          </a:p>
          <a:p>
            <a:r>
              <a:rPr sz="2600" b="1">
                <a:solidFill>
                  <a:srgbClr val="0B2545"/>
                </a:solidFill>
              </a:rPr>
              <a:t>全体像: なぜこの3パラメータが最優先か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60175" cy="27940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 b="0">
                <a:solidFill>
                  <a:srgbClr val="222222"/>
                </a:solidFill>
              </a:rPr>
              <a:t>• THREE_SPECIES_COEXISTENCE_SUMMARY_20260911.docx 第8章が、シミュレータ全ソース(dfba_simulator.py / physiology_dfba.py / audited_dfba.py / resolved_dfba.py 等)を監査し、3種共存の結論を反転させうる順に14パラメータをランク付け。</a:t>
            </a:r>
          </a:p>
          <a:p>
            <a:pPr>
              <a:spcAft>
                <a:spcPts val="400"/>
              </a:spcAft>
            </a:pPr>
            <a:r>
              <a:rPr sz="1450" b="0">
                <a:solidFill>
                  <a:srgbClr val="222222"/>
                </a:solidFill>
              </a:rPr>
              <a:t>• 上位3項目に対応する3本の湿式実験プロトコルを本サイクルで作成済み。</a:t>
            </a:r>
          </a:p>
          <a:p>
            <a:pPr>
              <a:spcAft>
                <a:spcPts val="400"/>
              </a:spcAft>
            </a:pPr>
            <a:r>
              <a:rPr sz="1450" b="0">
                <a:solidFill>
                  <a:srgbClr val="222222"/>
                </a:solidFill>
              </a:rPr>
              <a:t>• 共通する結論: 3種優位は条件依存(kLa中間域で+25.4%、kLa2で-51.6%)であり、この符号自体が未校正パラメータ次第で変わりうる。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80360"/>
          <a:ext cx="1124711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79"/>
                <a:gridCol w="2377440"/>
                <a:gridCol w="2743200"/>
                <a:gridCol w="3291840"/>
                <a:gridCol w="2194559"/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優先度</a:t>
                      </a:r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パラメータ</a:t>
                      </a:r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現在の仮定値</a:t>
                      </a:r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影響</a:t>
                      </a:r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対応プロトコル</a:t>
                      </a:r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DEFAULT_POLYMER_RATES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(ゴム分解速度定数)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lcp_c5=2.5, roxb_c5=roxa_direct_c5=0.75,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roxa_oligo_c30=0.25 mmol/gDW/h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全炭素フローの起点。NS21のPHA原料供給と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Pfへの有機酸供給の上流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LCP_ROX_ACTIVITY_ASSAY_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PROTOCOL_20260911.docx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②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maintenance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(維持ATP要求量)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未設定(空dict)→実質0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ゼロ増殖時の生存・飢餓耐性。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長期共存の評価に直結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MAINTENANCE_ATP_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PROTOCOL_20260912.docx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polymer_oxygen_fraction /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half_saturation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0.25 / 0.01 mmol/L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低DO条件でのゴム分解と呼吸の酸素競合。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低kLaでの3種優位性の符号を左右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OXYGEN_PARTITIONING_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PROTOCOL_20260912.docx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④〜⑦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死滅率・NH4半飽和・PHA上限・kLa等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(未着手)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同章の残る4パラメータ(次スライド以降の対象外)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未作成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573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601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6E4F"/>
                </a:solidFill>
              </a:rPr>
              <a:t>2. なぜ①③が最優先か (計算結果)</a:t>
            </a:r>
          </a:p>
          <a:p>
            <a:r>
              <a:rPr sz="2600" b="1">
                <a:solidFill>
                  <a:srgbClr val="0B2545"/>
                </a:solidFill>
              </a:rPr>
              <a:t>根拠①③: OR16+NS21律速トレース — ゴムはほぼ分解されず、酸素が支配的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60175" cy="27940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</a:rPr>
              <a:t>• 24h計算でゴム濃度 10.0 → 8.8362 g/L(11.6%のみ消費)。OR16 0.5→0.557 g/L、NS21 0.1→0.111 g/L と菌体はわずかに増加するのみ。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1F4D78"/>
                </a:solidFill>
              </a:rPr>
              <a:t>• ゴム分解段階はモデル上「allocated_oxygen_limited」と診断。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</a:rPr>
              <a:t>• 栄養素ドロップアウト感度ランキング(右図パネルd)で酸素(o2_e)が全アミノ酸を1桁以上引き離して最大: 単独介入で共通増殖容量+30.1%。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9B1C1C"/>
                </a:solidFill>
              </a:rPr>
              <a:t>• しかし: 「酸素律速判定は固定されたpolymer_oxygen_fraction=0.25に依存し、実測DO/OURによる再推定が必要」— 診断自体が未校正パラメータの上に成立する循環構造。①(分解速度)と③(酸素配分)は計算だけでは切り分けられない。</a:t>
            </a:r>
          </a:p>
        </p:txBody>
      </p:sp>
      <p:pic>
        <p:nvPicPr>
          <p:cNvPr id="5" name="Picture 4" descr="Figure_OR16_NS21_limitation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98502"/>
            <a:ext cx="5394960" cy="4318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B6573"/>
                </a:solidFill>
              </a:rPr>
              <a:t>出典: results/or16_ns21_limitation_trace_20260902/ Figure_OR16_NS21_limitation_trace.png (a:菌体量 b:ゴム濃度とPHAプール c:共通増殖容量 d:栄養素ドロップアウト感度)。OR16+NS21の2種系、Pfは含まない。決定論的な1軌道の計算機内シミュレーション。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57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601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6E4F"/>
                </a:solidFill>
              </a:rPr>
              <a:t>2. なぜ②が最優先か (計算結果)</a:t>
            </a:r>
          </a:p>
          <a:p>
            <a:r>
              <a:rPr sz="2600" b="1">
                <a:solidFill>
                  <a:srgbClr val="0B2545"/>
                </a:solidFill>
              </a:rPr>
              <a:t>根拠②: 維持ATPを10倍にするとPfの生存曲線が明確に変化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60175" cy="27940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</a:rPr>
              <a:t>• PHYSIOLOGY_LONG_VALIDATION_20260908: baseline(維持ATP 0.1 mmol/g/h)とhigh_maintenance(1 mmol/g/h、10倍)を含む5条件を24h計算。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222222"/>
                </a:solidFill>
              </a:rPr>
              <a:t>• Live Pf(左下パネル): baseline 0.030→約0.0245 g/Lに対し、high_maintenanceは約0.012 g/Lまでより急速に減少。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</a:rPr>
              <a:t>• Live-cell PHA(左上パネル): high_maintenance条件はPHA蓄積の立ち上がりが約11h時点まで遅延(他条件は8h前後で立ち上がる)。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5B6573"/>
                </a:solidFill>
              </a:rPr>
              <a:t>• 維持ATP・基礎死滅率0.01 h⁻¹・最大飢餓死滅率0.1 h⁻¹はいずれも「未校正の検証用仮定」と明記(実測値ではない)。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9B1C1C"/>
                </a:solidFill>
              </a:rPr>
              <a:t>• 図タイトル原文: "Assumption and feed sensitivity; not evidence of biological stability" — 感度分析であり生物学的実測の証拠ではない。</a:t>
            </a:r>
          </a:p>
        </p:txBody>
      </p:sp>
      <p:pic>
        <p:nvPicPr>
          <p:cNvPr id="5" name="Picture 4" descr="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59280"/>
            <a:ext cx="5394960" cy="3596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B6573"/>
                </a:solidFill>
              </a:rPr>
              <a:t>出典: results/physiology_long_validation_20260908/sensitivity.png (baseline / high_maintenance / high_death / feed_stop / nh4_staged の5条件比較)。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57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601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6E4F"/>
                </a:solidFill>
              </a:rPr>
              <a:t>2. なぜ③が最優先か (計算結果)</a:t>
            </a:r>
          </a:p>
          <a:p>
            <a:r>
              <a:rPr sz="2600" b="1">
                <a:solidFill>
                  <a:srgbClr val="0B2545"/>
                </a:solidFill>
              </a:rPr>
              <a:t>根拠③: 酸素供給条件に対する3種優位性は非単調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60175" cy="27940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</a:rPr>
              <a:t>• OXYGEN_SCHEDULE_THIRD_SPECIES_20260910(dt収束確認済み): kLa 2一定で-51.6%、kLa中間域(4〜8)・曝気配分の悪いパルス条件で最大+25.4%、kLa 50一定で-1.7%。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</a:rPr>
              <a:t>• 同一曝気予算(kLa積分144h)にそろえた5候補でも、2種PHA 0.346〜0.430 g/L(幅24%)、3種0.386〜0.445 g/L(幅15%)と広く分布 — 曝気の時間配分だけで結果が変わる。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222222"/>
                </a:solidFill>
              </a:rPr>
              <a:t>• 3種優位が最大の条件(2/10 6時間4分割)は、同時に2種PHAが最も低い条件でもある→ 3種は「上限を押し上げる」のではなく「悪条件での落ち込みを緩和する」方向に作用。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F4D78"/>
                </a:solidFill>
              </a:rPr>
              <a:t>• この非単調性は、酸素がゴム分解(オキシゲナーゼ)と細胞呼吸に競合配分される構造(polymer_oxygen_fraction/half_saturation)から生じている。</a:t>
            </a:r>
          </a:p>
        </p:txBody>
      </p:sp>
      <p:pic>
        <p:nvPicPr>
          <p:cNvPr id="5" name="Picture 4" descr="fig1_third_species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013" y="3017520"/>
            <a:ext cx="3714533" cy="3246120"/>
          </a:xfrm>
          <a:prstGeom prst="rect">
            <a:avLst/>
          </a:prstGeom>
        </p:spPr>
      </p:pic>
      <p:pic>
        <p:nvPicPr>
          <p:cNvPr id="6" name="Picture 5" descr="fig2_equal_budget_fam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31662"/>
            <a:ext cx="5303520" cy="2217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5B6573"/>
                </a:solidFill>
              </a:rPr>
              <a:t>出典: results/third_species_value_20260910/fig1_third_species_axis.png, fig2_equal_budget_family.png。3HV差はdt未収束のkLa2一定・kLa10一定を除く。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57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601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6E4F"/>
                </a:solidFill>
              </a:rPr>
              <a:t>3. 何をどう測るか</a:t>
            </a:r>
          </a:p>
          <a:p>
            <a:r>
              <a:rPr sz="2600" b="1">
                <a:solidFill>
                  <a:srgbClr val="0B2545"/>
                </a:solidFill>
              </a:rPr>
              <a:t>3プロトコルの測定手法と主要文献値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60175" cy="27940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383280"/>
                <a:gridCol w="3383280"/>
                <a:gridCol w="3474720"/>
              </a:tblGrid>
              <a:tr h="1024128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①Lcp/Rox活性</a:t>
                      </a:r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②維持ATP(NGAM)</a:t>
                      </a:r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③酸素分配</a:t>
                      </a:r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対象菌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OR16(Lcp)、NS21(RoxA/RoxB)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OR16・NS21・Pf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OR16・NS21(オキシゲナーゼ+全菌呼吸)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手法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休止細胞アッセイ(Clark電極/蛍光センサーでO2消費速度計測)、生成物HPLC定量(ODTD等)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ケモスタット連続培養、Pirtプロット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qs = μ/Ymax + ms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既存Lcp/RoxアッセイをDO可変に拡張(Km(O2))+動的法拡張(Ks(O2))+基質有無OUR差分(分配実測)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主要文献値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Lcp1/2/3比活性4.02/1.17/0.22 U/mg(Gibu 2020)、RoxB 4.8 μmol/min/mg(BRENDA)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S. coelicolor 7.5 mmol ATP/gDW/h(Coze 2013)、iMR558モデル 1.4 mmol ATP/gDW/h(Pf自身)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Lcp/RoxA/RoxBのKm(O2)は文献に前例なし(標準アッセイは酸素濃度を振っていない) — 真に新規の測定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主要装備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Clark型電極、天然ゴムラテックス/DPNR、50mM緩衝液系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ケモスタット(0.5〜1L)、5希釈率(D=0.02〜0.15 h⁻¹)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PyroScience光学式O2センサー(針型/センサースポット)推奨— 応答速度・非消費性で隔膜型電極/培養装置付属DO計より有利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57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601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6E4F"/>
                </a:solidFill>
              </a:rPr>
              <a:t>4. 実施に向けて</a:t>
            </a:r>
          </a:p>
          <a:p>
            <a:r>
              <a:rPr sz="2600" b="1">
                <a:solidFill>
                  <a:srgbClr val="0B2545"/>
                </a:solidFill>
              </a:rPr>
              <a:t>必要サンプル・装置(3実験共通)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60175" cy="27940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943600"/>
                <a:gridCol w="402336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カテゴリ</a:t>
                      </a:r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サンプル/装備</a:t>
                      </a:r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用途</a:t>
                      </a:r>
                    </a:p>
                  </a:txBody>
                  <a:tcPr anchor="ctr">
                    <a:solidFill>
                      <a:srgbClr val="1F4D7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生物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OR16休止細胞懸濁液(ゴム前培養→集菌洗浄)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①③のLcp活性・Km(O2)アッセイ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生物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NS21休止細胞懸濁液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①③のRoxA/RoxB活性・Km(O2)アッセイ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生物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OR16/NS21/Pf 炭素源制限連続培養(各5希釈率)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②Pirtプロット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生物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対数増殖期培養(ゴムあり/なし2条件)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③OUR差分法(polymer_oxygen_fraction実測)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基質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天然ゴムラテックス、DPNR(Chaikumpollert法調製)、合成ポリイソプレン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①③共通基質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緩衝液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50mM Tris-HCl(pH7、Lcp)、100mM リン酸K(pH7)+0.1%NP-40(Rox)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①③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校正液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2% Na2SO3(0%点)、空気飽和緩衝液(100%点)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全DO計測共通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装備(新)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PyroScience光学式O2センサー(針型/スポット+光ファイバー)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①③、特に低DO域・小容量セル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対照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基質無添加ブランク、ゴム基質なし培養(条件A)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内在性呼吸の差し引き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57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601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6E4F"/>
                </a:solidFill>
              </a:rPr>
              <a:t>5. まとめ</a:t>
            </a:r>
          </a:p>
          <a:p>
            <a:r>
              <a:rPr sz="2600" b="1">
                <a:solidFill>
                  <a:srgbClr val="FFFFFF"/>
                </a:solidFill>
              </a:rPr>
              <a:t>次のアクション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60175" cy="27940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① Lcp活性アッセイ(OR16)を先行実施 — 既存Gibu et al. 2020条件がそのまま使え、3実験中もっとも着手コストが低い。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③ PyroScience導入によりKm(O2)測定(小容量セル)とKs(O2)動的法(低DO域の応答遅れ懸念を解消)の両方が実施可能に。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② 維持ATPのPirtプロットはOR16・Pfの増殖が遅いため希釈率上限を下げて設計(D=0.02〜0.10 h⁻¹目安)。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④〜⑦(死滅率・NH4半飽和・PHA上限・kLa)は同じ優先順位リストの残り項目 — 本3プロトコル完了後の次サイクル対象。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FFC19E"/>
                </a:solidFill>
              </a:rPr>
              <a:t>• 全ての結論は「未校正パラメータ前提の計算」である点を実験完了まで保留として扱う(THREE_SPECIES_COEXISTENCE_SUMMARY全体の方針)。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8A9BB0"/>
                </a:solidFill>
              </a:rPr>
              <a:t>参照文書: LCP_ROX_ACTIVITY_ASSAY_PROTOCOL_20260911.docx / MAINTENANCE_ATP_PROTOCOL_20260912.docx / OXYGEN_PARTITIONING_PROTOCOL_20260912.docx / CALIBRATION_EXPERIMENT_RATIONALE_20260912.docx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573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